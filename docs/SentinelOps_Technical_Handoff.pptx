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f235dabd9e4df8" /><Relationship Type="http://schemas.openxmlformats.org/officeDocument/2006/relationships/extended-properties" Target="/docProps/app.xml" Id="R2c3db1514b474af0" /><Relationship Type="http://schemas.openxmlformats.org/officeDocument/2006/relationships/officeDocument" Target="/ppt/presentation.xml" Id="R7650aba2fd0648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a5b0eb4cdb4a20"/>
  </p:sldMasterIdLst>
  <p:notesMasterIdLst>
    <p:notesMasterId xmlns:r="http://schemas.openxmlformats.org/officeDocument/2006/relationships" r:id="R625e8cd5cebd4cb5"/>
  </p:notesMasterIdLst>
  <p:sldIdLst>
    <p:sldId xmlns:r="http://schemas.openxmlformats.org/officeDocument/2006/relationships" id="256" r:id="R1a4cb693fce3481b"/>
    <p:sldId xmlns:r="http://schemas.openxmlformats.org/officeDocument/2006/relationships" id="257" r:id="Rbe8ac7a40bf64a44"/>
    <p:sldId xmlns:r="http://schemas.openxmlformats.org/officeDocument/2006/relationships" id="258" r:id="R1d30b559ad79414a"/>
    <p:sldId xmlns:r="http://schemas.openxmlformats.org/officeDocument/2006/relationships" id="259" r:id="Rfba17e8216cf47ed"/>
    <p:sldId xmlns:r="http://schemas.openxmlformats.org/officeDocument/2006/relationships" id="260" r:id="Rb55b793d7f2c4fd7"/>
    <p:sldId xmlns:r="http://schemas.openxmlformats.org/officeDocument/2006/relationships" id="261" r:id="R82ddefcc7a484d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5dc76448ed442f" /><Relationship Type="http://schemas.openxmlformats.org/officeDocument/2006/relationships/slideMaster" Target="/ppt/slideMasters/slideMaster1.xml" Id="Rb8a5b0eb4cdb4a20" /><Relationship Type="http://schemas.openxmlformats.org/officeDocument/2006/relationships/notesMaster" Target="/ppt/notesMasters/notesMaster1.xml" Id="R625e8cd5cebd4cb5" /><Relationship Type="http://schemas.openxmlformats.org/officeDocument/2006/relationships/presProps" Target="/ppt/presProps.xml" Id="R81c4c20781ee41cf" /><Relationship Type="http://schemas.openxmlformats.org/officeDocument/2006/relationships/tableStyles" Target="/ppt/tableStyles.xml" Id="Rf67c294b18494e88" /><Relationship Type="http://schemas.openxmlformats.org/officeDocument/2006/relationships/slide" Target="/ppt/slides/slide1.xml" Id="R1a4cb693fce3481b" /><Relationship Type="http://schemas.openxmlformats.org/officeDocument/2006/relationships/slide" Target="/ppt/slides/slide2.xml" Id="Rbe8ac7a40bf64a44" /><Relationship Type="http://schemas.openxmlformats.org/officeDocument/2006/relationships/slide" Target="/ppt/slides/slide3.xml" Id="R1d30b559ad79414a" /><Relationship Type="http://schemas.openxmlformats.org/officeDocument/2006/relationships/slide" Target="/ppt/slides/slide4.xml" Id="Rfba17e8216cf47ed" /><Relationship Type="http://schemas.openxmlformats.org/officeDocument/2006/relationships/slide" Target="/ppt/slides/slide5.xml" Id="Rb55b793d7f2c4fd7" /><Relationship Type="http://schemas.openxmlformats.org/officeDocument/2006/relationships/slide" Target="/ppt/slides/slide6.xml" Id="R82ddefcc7a484d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f05e16134544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b95b10e00d4491" /><Relationship Type="http://schemas.openxmlformats.org/officeDocument/2006/relationships/notesMaster" Target="/ppt/notesMasters/notesMaster1.xml" Id="R97c8fa77a93d4a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8ab82db3bc4f15" /><Relationship Type="http://schemas.openxmlformats.org/officeDocument/2006/relationships/notesMaster" Target="/ppt/notesMasters/notesMaster1.xml" Id="R293246e14c1145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a274df35a54c32" /><Relationship Type="http://schemas.openxmlformats.org/officeDocument/2006/relationships/notesMaster" Target="/ppt/notesMasters/notesMaster1.xml" Id="Rc9de2c84b76a46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44af3beae74400" /><Relationship Type="http://schemas.openxmlformats.org/officeDocument/2006/relationships/notesMaster" Target="/ppt/notesMasters/notesMaster1.xml" Id="R6bbe7178602241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e0fbe8ac3f40dc" /><Relationship Type="http://schemas.openxmlformats.org/officeDocument/2006/relationships/notesMaster" Target="/ppt/notesMasters/notesMaster1.xml" Id="R5060ef893c0f4f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bacc5550d54b89" /><Relationship Type="http://schemas.openxmlformats.org/officeDocument/2006/relationships/notesMaster" Target="/ppt/notesMasters/notesMaster1.xml" Id="Rfd61589114b743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 and roadmap: README.md, docs/ARCHITECTURE.md, supplied SentinelOps SOC 2.0 Detailed Step by Step Roadmap, Step 12. SOC means security operations center here. No SOC 2 certification or production containment claim. Open with the isolated demonstration. All foreground text is editable.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app/main.py, app/persistent_collector_registry.py, app/analyst_identity.py, app/response_execution.py; docs/ARCHITECTURE.md. API key authorizes ingestion only. Collector HMAC authenticates key possession. Analyst roles authorize decisions. All three are separate responsibilities. Database administrators remain trusted.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app/response_approval.py, app/response_execution.py, app/simulation_lifecycle.py; test_step6_integrated.py, test_step7_lifecycle.py. Optional Gemini cannot grant authority. Placeholder tool evidence cannot authorize. Execution rechecks raw evidence and frozen approval digest with current identity and registry state. SQL writer reservations and a main-store transaction protect commit.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app/response_execution.py, app/simulation_lifecycle.py; run_step12_walkthrough.py stages EXECUTION_RETRY, ROLLBACK_AND_RETRY, HISTORICAL_EXECUTION_REPLAY. The replayed field changes to true, while persisted receipt fields remain identical. Current dashboard snapshots reveal current effect state. Verification is synthetic_sqlite_probe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run_step12_checks.py GROUPS and default three concurrency repetitions; run_step12_walkthrough.py; STEP12_TEST_RESULTS.json and STEP12_WALKTHROUGH.json in companion release. Counts are jobs and stages, not assertions. All 28 Step 11 jobs remain. The gate tests current code with pinned dependencies and offline network guards. In-process ASGI does not establish listening-server or browser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docs/THREAT_MODEL.md, docs/FINAL_VALIDATION.md, docs/DEMO_SCRIPT.md. The restricted build environment could not connect to the dashboard through a browser. No actual screenshots/video are provided. CI and Docker templates were not executed. No GitHub modification, live provider test or real firewall action was performed in this delivery. A prior operator-reported live Gemini success is historical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11818848264ba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d6caf80a204ab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60ab49d2ca48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db7d2736a7476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a58f7fb5a464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d91a4ad8b147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75E232-B974-4440-A9F7-A71A15C9BF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6478CAF-F8FD-45B0-827C-9B0F06098D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FB02463-3878-4090-93DA-63FC3E4F90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B4A4AA-C2E4-4D92-8601-8B5EE274EC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DD9D95F-8C3C-4FC4-BB75-8BED4D9FD0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05C08A5-8379-4C45-B946-5A4E44F133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4435C2-2A39-411F-B745-394DF89FB4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F38ABF5-00C7-48DF-B761-B7FB89BA692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F0270F-5CE6-418A-BBB7-E0E721D534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69883A-B769-4A65-8B8C-93732F6391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9bb897e4d246a9" /><Relationship Type="http://schemas.openxmlformats.org/officeDocument/2006/relationships/slideLayout" Target="/ppt/slideLayouts/slideLayout1.xml" Id="R41c548f82b194419" /><Relationship Type="http://schemas.openxmlformats.org/officeDocument/2006/relationships/slideLayout" Target="/ppt/slideLayouts/slideLayout2.xml" Id="Ra886b34f0e9c4568" /><Relationship Type="http://schemas.openxmlformats.org/officeDocument/2006/relationships/slideLayout" Target="/ppt/slideLayouts/slideLayout3.xml" Id="R9fe54b7465df4b38" /><Relationship Type="http://schemas.openxmlformats.org/officeDocument/2006/relationships/slideLayout" Target="/ppt/slideLayouts/slideLayout4.xml" Id="R89f76f59653848d5" /><Relationship Type="http://schemas.openxmlformats.org/officeDocument/2006/relationships/slideLayout" Target="/ppt/slideLayouts/slideLayout5.xml" Id="R6edcb85e662e4efb" /><Relationship Type="http://schemas.openxmlformats.org/officeDocument/2006/relationships/slideLayout" Target="/ppt/slideLayouts/slideLayout6.xml" Id="R09edcf1abf1f47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c548f82b194419"/>
    <p:sldLayoutId xmlns:r="http://schemas.openxmlformats.org/officeDocument/2006/relationships" id="2147483650" r:id="Ra886b34f0e9c4568"/>
    <p:sldLayoutId xmlns:r="http://schemas.openxmlformats.org/officeDocument/2006/relationships" id="2147483651" r:id="R9fe54b7465df4b38"/>
    <p:sldLayoutId xmlns:r="http://schemas.openxmlformats.org/officeDocument/2006/relationships" id="2147483652" r:id="R89f76f59653848d5"/>
    <p:sldLayoutId xmlns:r="http://schemas.openxmlformats.org/officeDocument/2006/relationships" id="2147483653" r:id="R6edcb85e662e4efb"/>
    <p:sldLayoutId xmlns:r="http://schemas.openxmlformats.org/officeDocument/2006/relationships" id="2147483654" r:id="R09edcf1abf1f47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c8168da6e044da" /><Relationship Type="http://schemas.openxmlformats.org/officeDocument/2006/relationships/notesSlide" Target="/ppt/notesSlides/notesSlide1.xml" Id="R5bfb8a221e8c4e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1b7cb746fc4645" /><Relationship Type="http://schemas.openxmlformats.org/officeDocument/2006/relationships/notesSlide" Target="/ppt/notesSlides/notesSlide2.xml" Id="R7b45f0f2795d45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90f281cac74a9c" /><Relationship Type="http://schemas.openxmlformats.org/officeDocument/2006/relationships/notesSlide" Target="/ppt/notesSlides/notesSlide3.xml" Id="Ra513f97ac3c343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a64b3c1a7a4db0" /><Relationship Type="http://schemas.openxmlformats.org/officeDocument/2006/relationships/notesSlide" Target="/ppt/notesSlides/notesSlide4.xml" Id="Rf37ef5e7f7194b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efcd4f5e9b4e62" /><Relationship Type="http://schemas.openxmlformats.org/officeDocument/2006/relationships/notesSlide" Target="/ppt/notesSlides/notesSlide5.xml" Id="R865de0244e814c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6e4ba8aef14e25" /><Relationship Type="http://schemas.openxmlformats.org/officeDocument/2006/relationships/notesSlide" Target="/ppt/notesSlides/notesSlide6.xml" Id="R9a9a30a37f854d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D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021C5-626F-44AE-9017-3A5B9835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SentinelOps SOC 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92F01-4220-4F42-A5D2-34388BEE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BEE9DC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BEE9DC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BEE9DC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BEE9DC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BEE9DC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BEE9DC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BEE9DC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BEE9DC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BEE9DC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BEE9D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BEE9D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BEE9DC"/>
                </a:solidFill>
                <a:latin typeface="Arial"/>
                <a:ea typeface="Arial"/>
                <a:cs typeface="Arial"/>
              </a:rPr>
              <a:t>A reviewed response, from alert to rollback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37BB9-731C-445E-891C-BFF36A5D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756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3F0B4-006A-4B7F-9111-8E5B5CD2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security operations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32053-CB95-4EDB-91AA-9B9F1B76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EE9D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BEE9D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BEE9D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BEE9D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BEE9D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BEE9D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BEE9D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BEE9D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BEE9D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BEE9D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EE9D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EE9DC"/>
                </a:solidFill>
                <a:latin typeface="Arial"/>
                <a:ea typeface="Arial"/>
                <a:cs typeface="Arial"/>
              </a:rPr>
              <a:t>Synthetic observations. SQLite simulation. Explicit analyst decisions.</a:t>
            </a:r>
          </a:p>
        </p:txBody>
      </p:sp>
    </p:spTree>
    <p:extLst>
      <p:ext uri="{BB962C8B-B14F-4D97-AF65-F5344CB8AC3E}">
        <p14:creationId xmlns:p14="http://schemas.microsoft.com/office/powerpoint/2010/main" val="6939721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1C22D2-F0DF-4E01-9488-EC9DBF01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7F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33B88-7278-41D9-815A-A620B678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D2B"/>
                </a:solidFill>
                <a:latin typeface="Arial"/>
                <a:ea typeface="Arial"/>
                <a:cs typeface="Arial"/>
              </a:rPr>
              <a:t>Trust crosses explicit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E02FD-BA87-41F8-A94E-1DC9C00D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38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861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7CF46-5516-4374-829A-40869691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67F6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C76C3-7C74-472D-A8F9-084258B7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04975"/>
            <a:ext cx="962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2D2B"/>
                </a:solidFill>
                <a:latin typeface="Arial"/>
                <a:ea typeface="Arial"/>
                <a:cs typeface="Arial"/>
              </a:rPr>
              <a:t>Ingestion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07116-345E-421C-BCDA-BDC086F5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81225"/>
            <a:ext cx="962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15F"/>
                </a:solidFill>
                <a:latin typeface="Arial"/>
                <a:ea typeface="Arial"/>
                <a:cs typeface="Arial"/>
              </a:rPr>
              <a:t>API key and typed requests establish the alert input boundary.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05080-B97C-49E0-8797-8C5D2C1E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67F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264B2-0714-4C1B-BE1D-75856EA4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86100"/>
            <a:ext cx="962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2D2B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22AFE-D6D7-4503-B78B-43827FBE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62350"/>
            <a:ext cx="962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15F"/>
                </a:solidFill>
                <a:latin typeface="Arial"/>
                <a:ea typeface="Arial"/>
                <a:cs typeface="Arial"/>
              </a:rPr>
              <a:t>Registered signatures, replay state and freshness bind observations to a case.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ABF77-6F5D-4BFA-853E-A5009594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67F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26699-F6B4-4A66-BA40-CD138B41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67225"/>
            <a:ext cx="962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2D2B"/>
                </a:solidFill>
                <a:latin typeface="Arial"/>
                <a:ea typeface="Arial"/>
                <a:cs typeface="Arial"/>
              </a:rPr>
              <a:t>Analyst authority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9E5AD-9833-40BA-AFEE-AA1192BC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43475"/>
            <a:ext cx="962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15F"/>
                </a:solidFill>
                <a:latin typeface="Arial"/>
                <a:ea typeface="Arial"/>
                <a:cs typeface="Arial"/>
              </a:rPr>
              <a:t>Current token, role and revocation checks guard every protected action.</a:t>
            </a:r>
          </a:p>
        </p:txBody>
      </p:sp>
    </p:spTree>
    <p:extLst>
      <p:ext uri="{BB962C8B-B14F-4D97-AF65-F5344CB8AC3E}">
        <p14:creationId xmlns:p14="http://schemas.microsoft.com/office/powerpoint/2010/main" val="1564004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3B0400-E69B-45BC-A111-A056C42B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7F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F991E-CBCF-45CF-9C37-9CE0D32D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D2B"/>
                </a:solidFill>
                <a:latin typeface="Arial"/>
                <a:ea typeface="Arial"/>
                <a:cs typeface="Arial"/>
              </a:rPr>
              <a:t>Approval and execution are separate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54A58-2855-4B83-AF55-20D6E724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38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861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A0D60-7351-4DA6-B32F-734B7B52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E06FF-8190-4555-B02A-5714A3BB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717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7F68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D386B-E7CF-453D-BDD5-134B89DA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324100"/>
            <a:ext cx="438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067F68"/>
                </a:solidFill>
                <a:latin typeface="Arial"/>
                <a:ea typeface="Arial"/>
                <a:cs typeface="Arial"/>
              </a:defRPr>
            </a:defPPr>
            <a:lvl1pPr>
              <a:defRPr sz="2850" b="0">
                <a:solidFill>
                  <a:srgbClr val="067F68"/>
                </a:solidFill>
                <a:latin typeface="Arial"/>
                <a:ea typeface="Arial"/>
                <a:cs typeface="Arial"/>
              </a:defRPr>
            </a:lvl1pPr>
            <a:lvl2pPr>
              <a:defRPr sz="2850" b="0">
                <a:solidFill>
                  <a:srgbClr val="067F68"/>
                </a:solidFill>
                <a:latin typeface="Arial"/>
                <a:ea typeface="Arial"/>
                <a:cs typeface="Arial"/>
              </a:defRPr>
            </a:lvl2pPr>
            <a:lvl3pPr>
              <a:defRPr sz="2850" b="0">
                <a:solidFill>
                  <a:srgbClr val="067F68"/>
                </a:solidFill>
                <a:latin typeface="Arial"/>
                <a:ea typeface="Arial"/>
                <a:cs typeface="Arial"/>
              </a:defRPr>
            </a:lvl3pPr>
            <a:lvl4pPr>
              <a:defRPr sz="2850" b="0">
                <a:solidFill>
                  <a:srgbClr val="067F68"/>
                </a:solidFill>
                <a:latin typeface="Arial"/>
                <a:ea typeface="Arial"/>
                <a:cs typeface="Arial"/>
              </a:defRPr>
            </a:lvl4pPr>
            <a:lvl5pPr>
              <a:defRPr sz="2850" b="0">
                <a:solidFill>
                  <a:srgbClr val="067F68"/>
                </a:solidFill>
                <a:latin typeface="Arial"/>
                <a:ea typeface="Arial"/>
                <a:cs typeface="Arial"/>
              </a:defRPr>
            </a:lvl5pPr>
            <a:lvl6pPr>
              <a:defRPr sz="2850" b="0">
                <a:solidFill>
                  <a:srgbClr val="067F68"/>
                </a:solidFill>
                <a:latin typeface="Arial"/>
                <a:ea typeface="Arial"/>
                <a:cs typeface="Arial"/>
              </a:defRPr>
            </a:lvl6pPr>
            <a:lvl7pPr>
              <a:defRPr sz="2850" b="0">
                <a:solidFill>
                  <a:srgbClr val="067F68"/>
                </a:solidFill>
                <a:latin typeface="Arial"/>
                <a:ea typeface="Arial"/>
                <a:cs typeface="Arial"/>
              </a:defRPr>
            </a:lvl7pPr>
            <a:lvl8pPr>
              <a:defRPr sz="2850" b="0">
                <a:solidFill>
                  <a:srgbClr val="067F68"/>
                </a:solidFill>
                <a:latin typeface="Arial"/>
                <a:ea typeface="Arial"/>
                <a:cs typeface="Arial"/>
              </a:defRPr>
            </a:lvl8pPr>
            <a:lvl9pPr>
              <a:defRPr sz="2850" b="0">
                <a:solidFill>
                  <a:srgbClr val="067F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067F68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067F6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B85EE-B9A6-4014-9697-824F9A84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E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B916A-7046-411D-AB3A-DBF0FE64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717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7F68"/>
                </a:solidFill>
                <a:latin typeface="Arial"/>
                <a:ea typeface="Arial"/>
                <a:cs typeface="Arial"/>
              </a:rPr>
              <a:t>APPROVED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6B2B6-90A5-4B31-BEE9-7D8BCBB1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24100"/>
            <a:ext cx="438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067F68"/>
                </a:solidFill>
                <a:latin typeface="Arial"/>
                <a:ea typeface="Arial"/>
                <a:cs typeface="Arial"/>
              </a:defRPr>
            </a:defPPr>
            <a:lvl1pPr>
              <a:defRPr sz="2850" b="0">
                <a:solidFill>
                  <a:srgbClr val="067F68"/>
                </a:solidFill>
                <a:latin typeface="Arial"/>
                <a:ea typeface="Arial"/>
                <a:cs typeface="Arial"/>
              </a:defRPr>
            </a:lvl1pPr>
            <a:lvl2pPr>
              <a:defRPr sz="2850" b="0">
                <a:solidFill>
                  <a:srgbClr val="067F68"/>
                </a:solidFill>
                <a:latin typeface="Arial"/>
                <a:ea typeface="Arial"/>
                <a:cs typeface="Arial"/>
              </a:defRPr>
            </a:lvl2pPr>
            <a:lvl3pPr>
              <a:defRPr sz="2850" b="0">
                <a:solidFill>
                  <a:srgbClr val="067F68"/>
                </a:solidFill>
                <a:latin typeface="Arial"/>
                <a:ea typeface="Arial"/>
                <a:cs typeface="Arial"/>
              </a:defRPr>
            </a:lvl3pPr>
            <a:lvl4pPr>
              <a:defRPr sz="2850" b="0">
                <a:solidFill>
                  <a:srgbClr val="067F68"/>
                </a:solidFill>
                <a:latin typeface="Arial"/>
                <a:ea typeface="Arial"/>
                <a:cs typeface="Arial"/>
              </a:defRPr>
            </a:lvl4pPr>
            <a:lvl5pPr>
              <a:defRPr sz="2850" b="0">
                <a:solidFill>
                  <a:srgbClr val="067F68"/>
                </a:solidFill>
                <a:latin typeface="Arial"/>
                <a:ea typeface="Arial"/>
                <a:cs typeface="Arial"/>
              </a:defRPr>
            </a:lvl5pPr>
            <a:lvl6pPr>
              <a:defRPr sz="2850" b="0">
                <a:solidFill>
                  <a:srgbClr val="067F68"/>
                </a:solidFill>
                <a:latin typeface="Arial"/>
                <a:ea typeface="Arial"/>
                <a:cs typeface="Arial"/>
              </a:defRPr>
            </a:lvl6pPr>
            <a:lvl7pPr>
              <a:defRPr sz="2850" b="0">
                <a:solidFill>
                  <a:srgbClr val="067F68"/>
                </a:solidFill>
                <a:latin typeface="Arial"/>
                <a:ea typeface="Arial"/>
                <a:cs typeface="Arial"/>
              </a:defRPr>
            </a:lvl7pPr>
            <a:lvl8pPr>
              <a:defRPr sz="2850" b="0">
                <a:solidFill>
                  <a:srgbClr val="067F68"/>
                </a:solidFill>
                <a:latin typeface="Arial"/>
                <a:ea typeface="Arial"/>
                <a:cs typeface="Arial"/>
              </a:defRPr>
            </a:lvl8pPr>
            <a:lvl9pPr>
              <a:defRPr sz="2850" b="0">
                <a:solidFill>
                  <a:srgbClr val="067F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067F68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067F6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B15E7-52B1-4065-AF1D-718F0429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E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F6B95A-DC3A-4A00-ACE3-1852EB93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717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7F68"/>
                </a:solidFill>
                <a:latin typeface="Arial"/>
                <a:ea typeface="Arial"/>
                <a:cs typeface="Arial"/>
              </a:rPr>
              <a:t>SIMULATED 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C20386-F86F-4215-A0D7-90A3045E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D2B"/>
                </a:solidFill>
                <a:latin typeface="Arial"/>
                <a:ea typeface="Arial"/>
                <a:cs typeface="Arial"/>
              </a:rPr>
              <a:t>Review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F96F86-C652-4F91-AF47-EB299087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575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D2B"/>
                </a:solidFill>
                <a:latin typeface="Arial"/>
                <a:ea typeface="Arial"/>
                <a:cs typeface="Arial"/>
              </a:rPr>
              <a:t>No effect yet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291068-FDE4-4BB0-9122-108F9625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575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D2B"/>
                </a:solidFill>
                <a:latin typeface="Arial"/>
                <a:ea typeface="Arial"/>
                <a:cs typeface="Arial"/>
              </a:rPr>
              <a:t>SQLite records 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56AE3E-66AB-45F5-B8E6-1022CEAF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D2B"/>
                </a:solidFill>
                <a:latin typeface="Arial"/>
                <a:ea typeface="Arial"/>
                <a:cs typeface="Arial"/>
              </a:rPr>
              <a:t>At execution: recheck identity, collector state, evidence age and approval binding.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A49ABB-4E50-4EB4-BBDA-9A18EF93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67F68"/>
                </a:solidFill>
                <a:latin typeface="Arial"/>
                <a:ea typeface="Arial"/>
                <a:cs typeface="Arial"/>
              </a:rPr>
              <a:t>Effect, receipt and audit commit together.</a:t>
            </a:r>
          </a:p>
        </p:txBody>
      </p:sp>
    </p:spTree>
    <p:extLst>
      <p:ext uri="{BB962C8B-B14F-4D97-AF65-F5344CB8AC3E}">
        <p14:creationId xmlns:p14="http://schemas.microsoft.com/office/powerpoint/2010/main" val="15890828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190340-78E1-4E6B-A8BA-3545D2AF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7F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EF2FF-B519-415D-9C3F-44B0B1CE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D2B"/>
                </a:solidFill>
                <a:latin typeface="Arial"/>
                <a:ea typeface="Arial"/>
                <a:cs typeface="Arial"/>
              </a:rPr>
              <a:t>Retries preserve history after rollback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E4DE6-8A19-4C14-B5AB-183A343D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38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861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60A77-0339-4956-BD6E-F10A7EC1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67F6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7504F-24D4-4480-A3C2-456F6C0B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04975"/>
            <a:ext cx="962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2D2B"/>
                </a:solidFill>
                <a:latin typeface="Arial"/>
                <a:ea typeface="Arial"/>
                <a:cs typeface="Arial"/>
              </a:rPr>
              <a:t>Execute and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9E069-D8FC-4105-ADA3-E1929719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81225"/>
            <a:ext cx="962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15F"/>
                </a:solidFill>
                <a:latin typeface="Arial"/>
                <a:ea typeface="Arial"/>
                <a:cs typeface="Arial"/>
              </a:rPr>
              <a:t>A synthetic SQLite probe checks the simulated effect and records telemetry.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34023-9C6F-4751-BC87-6155A2B6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67F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FBDBC-676C-4822-B179-FD1E3EB4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86100"/>
            <a:ext cx="962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2D2B"/>
                </a:solidFill>
                <a:latin typeface="Arial"/>
                <a:ea typeface="Arial"/>
                <a:cs typeface="Arial"/>
              </a:rPr>
              <a:t>Roll back explicitly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621CA0-037E-435B-992B-6538D3EF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62350"/>
            <a:ext cx="962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15F"/>
                </a:solidFill>
                <a:latin typeface="Arial"/>
                <a:ea typeface="Arial"/>
                <a:cs typeface="Arial"/>
              </a:rPr>
              <a:t>An authorized analyst removes the applicable effect and keeps the audit history.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43F39-3D16-40F2-B4E6-535DF4DB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67F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0450DC-0FFF-493A-91F1-11EDC9F7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67225"/>
            <a:ext cx="962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2D2B"/>
                </a:solidFill>
                <a:latin typeface="Arial"/>
                <a:ea typeface="Arial"/>
                <a:cs typeface="Arial"/>
              </a:rPr>
              <a:t>Replay safely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26AC5C-1E30-432C-85BE-A8F24DDE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43475"/>
            <a:ext cx="962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8615F"/>
                </a:solidFill>
                <a:latin typeface="Arial"/>
                <a:ea typeface="Arial"/>
                <a:cs typeface="Arial"/>
              </a:rPr>
              <a:t>The same key returns its stored receipt. It cannot recreate a rolled-back effect.</a:t>
            </a:r>
          </a:p>
        </p:txBody>
      </p:sp>
    </p:spTree>
    <p:extLst>
      <p:ext uri="{BB962C8B-B14F-4D97-AF65-F5344CB8AC3E}">
        <p14:creationId xmlns:p14="http://schemas.microsoft.com/office/powerpoint/2010/main" val="6292541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31835C-C520-47AE-9961-AD9B03AE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7F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9E374-513D-4B66-B4A0-08D40E05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D2B"/>
                </a:solidFill>
                <a:latin typeface="Arial"/>
                <a:ea typeface="Arial"/>
                <a:cs typeface="Arial"/>
              </a:rPr>
              <a:t>Validation is repeatable from clean source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96DB9-70A4-49CE-B2BF-B130ECF5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38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8615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F332F-A532-40C2-9585-114AA815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defPPr>
            <a:lvl1pPr>
              <a:defRPr sz="75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1pPr>
            <a:lvl2pPr>
              <a:defRPr sz="75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2pPr>
            <a:lvl3pPr>
              <a:defRPr sz="75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3pPr>
            <a:lvl4pPr>
              <a:defRPr sz="75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4pPr>
            <a:lvl5pPr>
              <a:defRPr sz="75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5pPr>
            <a:lvl6pPr>
              <a:defRPr sz="75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6pPr>
            <a:lvl7pPr>
              <a:defRPr sz="75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7pPr>
            <a:lvl8pPr>
              <a:defRPr sz="75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8pPr>
            <a:lvl9pPr>
              <a:defRPr sz="75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067F68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2DBFB-5297-45E8-B49D-49EBC01B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2D2B"/>
                </a:solidFill>
                <a:latin typeface="Arial"/>
                <a:ea typeface="Arial"/>
                <a:cs typeface="Arial"/>
              </a:rPr>
              <a:t>offline test jobs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CD069-A25E-43F7-B231-34A909DF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62125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defPPr>
            <a:lvl1pPr>
              <a:defRPr sz="75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1pPr>
            <a:lvl2pPr>
              <a:defRPr sz="75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2pPr>
            <a:lvl3pPr>
              <a:defRPr sz="75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3pPr>
            <a:lvl4pPr>
              <a:defRPr sz="75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4pPr>
            <a:lvl5pPr>
              <a:defRPr sz="75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5pPr>
            <a:lvl6pPr>
              <a:defRPr sz="75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6pPr>
            <a:lvl7pPr>
              <a:defRPr sz="75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7pPr>
            <a:lvl8pPr>
              <a:defRPr sz="75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8pPr>
            <a:lvl9pPr>
              <a:defRPr sz="75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067F6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EF2B5-92FF-429A-9490-8008353B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956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2D2B"/>
                </a:solidFill>
                <a:latin typeface="Arial"/>
                <a:ea typeface="Arial"/>
                <a:cs typeface="Arial"/>
              </a:rPr>
              <a:t>checked walkthrough stages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83FFC-0F70-40AA-8234-98BA947D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D2B"/>
                </a:solidFill>
                <a:latin typeface="Arial"/>
                <a:ea typeface="Arial"/>
                <a:cs typeface="Arial"/>
              </a:rPr>
              <a:t>Includes three concurrency repetitions, authorization denials, crash safety,</a:t>
            </a:r>
          </a:p>
          <a:p xmlns:a="http://schemas.openxmlformats.org/drawingml/2006/main">
            <a:pPr>
              <a:defRPr sz="2100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D2B"/>
                </a:solidFill>
                <a:latin typeface="Arial"/>
                <a:ea typeface="Arial"/>
                <a:cs typeface="Arial"/>
              </a:rPr>
              <a:t>execution retries, rollback and historical replay.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35C26-CB98-43DD-B14E-B056E32B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21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8615F"/>
                </a:solidFill>
                <a:latin typeface="Arial"/>
                <a:ea typeface="Arial"/>
                <a:cs typeface="Arial"/>
              </a:rPr>
              <a:t>Disposable databases. Pinned dependencies. Redacted reports.</a:t>
            </a:r>
          </a:p>
        </p:txBody>
      </p:sp>
    </p:spTree>
    <p:extLst>
      <p:ext uri="{BB962C8B-B14F-4D97-AF65-F5344CB8AC3E}">
        <p14:creationId xmlns:p14="http://schemas.microsoft.com/office/powerpoint/2010/main" val="16551624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6B3924-5FEB-4129-B4D8-C679BD75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7F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03C48-08F4-4863-B4E9-40278FF3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D2B"/>
                </a:solidFill>
                <a:latin typeface="Arial"/>
                <a:ea typeface="Arial"/>
                <a:cs typeface="Arial"/>
              </a:rPr>
              <a:t>The evidence has clear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AA55B-B769-41CE-9E32-4DB84C7D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38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8615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1A43F-E18F-4FB2-93BF-AF048357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67F6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7F68"/>
                </a:solidFill>
                <a:latin typeface="Arial"/>
                <a:ea typeface="Arial"/>
                <a:cs typeface="Arial"/>
              </a:rPr>
              <a:t>Verified locally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595C0-D336-4BCE-99FC-BBB594B2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481012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D2B"/>
                </a:solidFill>
                <a:latin typeface="Arial"/>
                <a:ea typeface="Arial"/>
                <a:cs typeface="Arial"/>
              </a:rPr>
              <a:t>Synthetic API lifecycle</a:t>
            </a:r>
          </a:p>
          <a:p xmlns:a="http://schemas.openxmlformats.org/drawingml/2006/main">
            <a:pPr>
              <a:defRPr sz="2025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D2B"/>
                </a:solidFill>
                <a:latin typeface="Arial"/>
                <a:ea typeface="Arial"/>
                <a:cs typeface="Arial"/>
              </a:rPr>
              <a:t>Current signed evidence checks</a:t>
            </a:r>
          </a:p>
          <a:p xmlns:a="http://schemas.openxmlformats.org/drawingml/2006/main">
            <a:pPr>
              <a:defRPr sz="2025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D2B"/>
                </a:solidFill>
                <a:latin typeface="Arial"/>
                <a:ea typeface="Arial"/>
                <a:cs typeface="Arial"/>
              </a:rPr>
              <a:t>Role and revocation controls</a:t>
            </a:r>
          </a:p>
          <a:p xmlns:a="http://schemas.openxmlformats.org/drawingml/2006/main">
            <a:pPr>
              <a:defRPr sz="2025" b="0">
                <a:solidFill>
                  <a:srgbClr val="152D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D2B"/>
                </a:solidFill>
                <a:latin typeface="Arial"/>
                <a:ea typeface="Arial"/>
                <a:cs typeface="Arial"/>
              </a:rPr>
              <a:t>Atomic receipts and simulation audits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5F876B-A12B-4F24-A1DD-A4B167B7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2D2B"/>
                </a:solidFill>
                <a:latin typeface="Arial"/>
                <a:ea typeface="Arial"/>
                <a:cs typeface="Arial"/>
              </a:rPr>
              <a:t>Still outside this delivery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125BA-2F78-4CCD-81E3-DCF5744F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8615F"/>
                </a:solidFill>
                <a:latin typeface="Arial"/>
                <a:ea typeface="Arial"/>
                <a:cs typeface="Arial"/>
              </a:rPr>
              <a:t>Actual browser screenshots and video</a:t>
            </a:r>
          </a:p>
          <a:p xmlns:a="http://schemas.openxmlformats.org/drawingml/2006/main">
            <a:pPr>
              <a:defRPr sz="20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8615F"/>
                </a:solidFill>
                <a:latin typeface="Arial"/>
                <a:ea typeface="Arial"/>
                <a:cs typeface="Arial"/>
              </a:rPr>
              <a:t>Remote CI and Docker execution</a:t>
            </a:r>
          </a:p>
          <a:p xmlns:a="http://schemas.openxmlformats.org/drawingml/2006/main">
            <a:pPr>
              <a:defRPr sz="20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8615F"/>
                </a:solidFill>
                <a:latin typeface="Arial"/>
                <a:ea typeface="Arial"/>
                <a:cs typeface="Arial"/>
              </a:rPr>
              <a:t>Current live Gemini authentication</a:t>
            </a:r>
          </a:p>
          <a:p xmlns:a="http://schemas.openxmlformats.org/drawingml/2006/main">
            <a:pPr>
              <a:defRPr sz="2025" b="0">
                <a:solidFill>
                  <a:srgbClr val="48615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8615F"/>
                </a:solidFill>
                <a:latin typeface="Arial"/>
                <a:ea typeface="Arial"/>
                <a:cs typeface="Arial"/>
              </a:rPr>
              <a:t>Real telemetry or network containment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FF1A2-1D16-4127-9DAD-023C89AA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52D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D2B"/>
                </a:solidFill>
                <a:latin typeface="Arial"/>
                <a:ea typeface="Arial"/>
                <a:cs typeface="Arial"/>
              </a:rPr>
              <a:t>Next local action: capture the isolated dashboard demo using docs/DEMO_SCRIPT.md.</a:t>
            </a:r>
          </a:p>
        </p:txBody>
      </p:sp>
    </p:spTree>
    <p:extLst>
      <p:ext uri="{BB962C8B-B14F-4D97-AF65-F5344CB8AC3E}">
        <p14:creationId xmlns:p14="http://schemas.microsoft.com/office/powerpoint/2010/main" val="2288452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2026-10-19T08:13:09.7320000Z</dcterms:created>
  <dcterms:modified xsi:type="dcterms:W3CDTF">2026-10-19T08:13:09.7320000Z</dcterms:modified>
</coreProperties>
</file>